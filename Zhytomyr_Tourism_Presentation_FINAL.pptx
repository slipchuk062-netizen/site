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Міністерство освіти і науки України</a:t>
            </a:r>
            <a:br/>
            <a:r>
              <a:t>[Ваш Навчальний Заклад]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3716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3000" b="1">
                <a:solidFill>
                  <a:srgbClr val="10B981"/>
                </a:solidFill>
              </a:defRPr>
            </a:pPr>
            <a:r>
              <a:t>Інтелектуальна платформа туристичної аналітики</a:t>
            </a:r>
            <a:br/>
            <a:r>
              <a:t>Житомирської області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з використанням кластеризації та геопросторового аналізу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[Ваше ПІБ]</a:t>
            </a:r>
            <a:br/>
            <a:r>
              <a:t>122 «Комп'ютерні науки»</a:t>
            </a:r>
            <a:br/>
            <a:br/>
            <a:r>
              <a:t>Керівник:</a:t>
            </a:r>
            <a:br/>
            <a:r>
              <a:t>[ПІБ Керівника]</a:t>
            </a:r>
            <a:br/>
            <a:br/>
            <a:r>
              <a:t>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АКТУАЛЬНІСТЬ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657600" cy="20116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ПРОБЛЕМА:</a:t>
            </a:r>
            <a:br/>
            <a:br/>
            <a:r>
              <a:t>Зростання туристичного потоку в Україні та необхідність ефективного планування розвитку туристичної інфраструктури вимагають сучасних інструментів аналізу.</a:t>
            </a:r>
            <a:br/>
            <a:br/>
            <a:r>
              <a:t>Відсутність комплексних систем створює труднощі для прийняття управлінських рішень.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36576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 РІШЕННЯ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737360"/>
            <a:ext cx="3657600" cy="2468880"/>
          </a:xfrm>
          <a:prstGeom prst="roundRect">
            <a:avLst/>
          </a:prstGeom>
          <a:solidFill>
            <a:srgbClr val="2850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Інтелектуальна платформа з:</a:t>
            </a:r>
            <a:br/>
            <a:br/>
            <a:r>
              <a:t>• K-means кластеризація</a:t>
            </a:r>
            <a:br/>
            <a:r>
              <a:t>• Geospatial аналіз (GeoJSON)</a:t>
            </a:r>
            <a:br/>
            <a:r>
              <a:t>• Machine Learning метрики</a:t>
            </a:r>
            <a:br/>
            <a:r>
              <a:t>• AI-асистент</a:t>
            </a:r>
            <a:br/>
            <a:r>
              <a:t>• Real-time дані</a:t>
            </a:r>
            <a:br/>
            <a:br/>
            <a:r>
              <a:t>Автоматизує аналіз 1,864 об'єктів та надає науково обґрунтовані рекомендації</a:t>
            </a:r>
          </a:p>
        </p:txBody>
      </p:sp>
      <p:pic>
        <p:nvPicPr>
          <p:cNvPr id="7" name="Picture 6" descr="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3657600" cy="29698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ПРЕДМЕТ, ОБ'ЄКТ ТА МЕТОДОЛОГІЯ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7132320" cy="128016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ПРЕДМЕТ</a:t>
            </a:r>
            <a:br/>
            <a:r>
              <a:t>Моделювання інтелектуальної системи для аналізу та кластеризації туристичних об'єктів на основі геопросторових даних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54864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651760"/>
            <a:ext cx="7132320" cy="128016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ОБ'ЄКТ ДОСЛІДЖЕННЯ</a:t>
            </a:r>
            <a:br/>
            <a:r>
              <a:t>Сукупність методів та засобів геоінформаційного аналізу, кластеризації та візуалізації туристичних даних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54864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7132320" cy="128016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МЕТОДОЛОГІЯ ДОСЛІДЖЕННЯ</a:t>
            </a:r>
            <a:br/>
            <a:r>
              <a:t>• K-means кластеризація</a:t>
            </a:r>
            <a:br/>
            <a:r>
              <a:t>• Geospatial analysis (GeoJSON)</a:t>
            </a:r>
            <a:br/>
            <a:r>
              <a:t>• Machine Learning metrics (Silhouette, Davies-Bouldin)</a:t>
            </a:r>
            <a:br/>
            <a:r>
              <a:t>• RESTful API архітектура</a:t>
            </a:r>
            <a:br/>
            <a:r>
              <a:t>• Responsive UI/UX дизайн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МЕТА ТА ЗАВДАННЯ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863840" cy="10972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200">
                <a:solidFill>
                  <a:srgbClr val="10B981"/>
                </a:solidFill>
              </a:defRPr>
            </a:pPr>
            <a:r>
              <a:t>Розробка інтелектуальної платформи для комплексного аналізу туристичних об'єктів Житомирської області, що забезпечить автоматичну кластеризацію даних, візуалізацію географічних закономірностей та надання персоналізованих рекомендацій для туристів і управлінських рішень для розвитку регіону.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7863840" cy="36576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ЗАВДАННЯ: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1. Проаналізувати існуючі рішення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2. Розробити архітектуру full-stack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3. K-means кластеризація 1,864 об'єктів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8912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4. Інтегрувати GeoJSON межі 4 районів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74320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5. Візуалізація (Elbow, Silhouette, PCA)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29184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6. Google Places API інтеграція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84048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7. AI-асистент Claude Sonnet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389120"/>
            <a:ext cx="3749039" cy="4572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8. Комплексне тестування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АНАЛІЗ ІСНУЮЧИХ РІШЕНЬ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0B981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0B981"/>
                          </a:solidFill>
                        </a:defRPr>
                      </a:pPr>
                      <a:r>
                        <a:t>Google Maps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0B981"/>
                          </a:solidFill>
                        </a:defRPr>
                      </a:pPr>
                      <a:r>
                        <a:t>TripAdvisor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0B981"/>
                          </a:solidFill>
                        </a:defRPr>
                      </a:pPr>
                      <a:r>
                        <a:t>Booking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0B981"/>
                          </a:solidFill>
                        </a:defRPr>
                      </a:pPr>
                      <a:r>
                        <a:t>Наша платформа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C8C8"/>
                          </a:solidFill>
                        </a:defRPr>
                      </a:pPr>
                      <a:r>
                        <a:t>Інтерфейс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C8C8"/>
                          </a:solidFill>
                        </a:defRPr>
                      </a:pPr>
                      <a:r>
                        <a:t>Кластерний аналіз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C8C8"/>
                          </a:solidFill>
                        </a:defRPr>
                      </a:pPr>
                      <a:r>
                        <a:t>Геопросторова аналітика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C8C8"/>
                          </a:solidFill>
                        </a:defRPr>
                      </a:pPr>
                      <a:r>
                        <a:t>AI-рекомендації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F4444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59E0B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59E0B"/>
                          </a:solidFill>
                        </a:defRPr>
                      </a:pPr>
                      <a:r>
                        <a:t>~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10B981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ПРОБЛЕМИ ТА РІШЕННЯ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657600" cy="457200"/>
          </a:xfrm>
          <a:prstGeom prst="roundRect">
            <a:avLst/>
          </a:prstGeom>
          <a:solidFill>
            <a:srgbClr val="8B000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❌ ПРОБЛЕМИ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Відсутність комплексного аналізу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6576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Неможливість виявлення закономірностей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6576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Відсутність наукових метрик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36576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C8C8C8"/>
                </a:solidFill>
              </a:defRPr>
            </a:pPr>
            <a:r>
              <a:t>Неточні межі районів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36576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 РІШЕННЯ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737360"/>
            <a:ext cx="365760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141414"/>
                </a:solidFill>
              </a:defRPr>
            </a:pPr>
            <a:r>
              <a:t>K-means кластеризація 1,864 об'єктів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468880"/>
            <a:ext cx="365760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141414"/>
                </a:solidFill>
              </a:defRPr>
            </a:pPr>
            <a:r>
              <a:t>Інтерактивна карта з GeoJSON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200400"/>
            <a:ext cx="365760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141414"/>
                </a:solidFill>
              </a:defRPr>
            </a:pPr>
            <a:r>
              <a:t>Silhouette 0.693, Davies-Bouldin 0.62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931920"/>
            <a:ext cx="365760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141414"/>
                </a:solidFill>
              </a:defRPr>
            </a:pPr>
            <a:r>
              <a:t>Точні дані з OpenStreetMap</a:t>
            </a:r>
          </a:p>
        </p:txBody>
      </p:sp>
      <p:pic>
        <p:nvPicPr>
          <p:cNvPr id="14" name="Picture 13" descr="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0"/>
            <a:ext cx="5486400" cy="30851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РЕАЛІЗАЦІЯ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188720"/>
            <a:ext cx="3474720" cy="9144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BACKEND</a:t>
            </a:r>
            <a:br/>
            <a:r>
              <a:t>FastAPI • Python • 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188720"/>
            <a:ext cx="3566160" cy="9144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RESTful API • Async •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240280"/>
            <a:ext cx="3474720" cy="9144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FRONTEND</a:t>
            </a:r>
            <a:br/>
            <a:r>
              <a:t>React 19 • Tailwind • Recharts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240280"/>
            <a:ext cx="3566160" cy="9144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Компонентний • Responsive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291840"/>
            <a:ext cx="3474720" cy="9144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КАРТОГРАФІЯ</a:t>
            </a:r>
            <a:br/>
            <a:r>
              <a:t>Leaflet.js • GeoJSON • OSM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291840"/>
            <a:ext cx="3566160" cy="9144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Інтерактивні карти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343400"/>
            <a:ext cx="3474720" cy="9144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AI &amp; API</a:t>
            </a:r>
            <a:br/>
            <a:r>
              <a:t>Claude Sonnet 4 • Google Places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343400"/>
            <a:ext cx="3566160" cy="9144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AI-асистент • Real-time</a:t>
            </a:r>
          </a:p>
        </p:txBody>
      </p:sp>
      <p:pic>
        <p:nvPicPr>
          <p:cNvPr id="16" name="Picture 1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03520"/>
            <a:ext cx="786384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ВІЗУАЛІЗАЦІЯ КЛАСТЕРНОГО АНАЛІЗУ</a:t>
            </a:r>
          </a:p>
        </p:txBody>
      </p:sp>
      <p:pic>
        <p:nvPicPr>
          <p:cNvPr id="4" name="Picture 3" descr="elbow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3657600" cy="2409470"/>
          </a:xfrm>
          <a:prstGeom prst="rect">
            <a:avLst/>
          </a:prstGeom>
        </p:spPr>
      </p:pic>
      <p:pic>
        <p:nvPicPr>
          <p:cNvPr id="5" name="Picture 4" descr="densit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657600" cy="20602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029200"/>
            <a:ext cx="7863840" cy="10972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10B981"/>
                </a:solidFill>
              </a:defRPr>
            </a:pPr>
            <a:r>
              <a:t>РЕЗУЛЬТАТИ КЛАСТЕРИЗАЦІЇ:</a:t>
            </a:r>
            <a:br/>
            <a:r>
              <a:t>• 1,864 туристичних об'єктів проаналізовано • 7 оптимальних кластерів визначено • 4 райони Житомирської області покрито • Silhouette Score: 0.693 (висока якість) • Davies-Bouldin Index: 0.620 (добра сепарація)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ТЕСТУВАННЯ ІНФОРМАЦІЙНОЇ СИСТЕМИ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188720"/>
            <a:ext cx="210312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ПРОДУКТИВНІСТЬ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011680" cy="4572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Frontend Testing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737360"/>
            <a:ext cx="722376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✅ 100% - Усі тести пройдено успішно. Responsive дизайн працює на всіх пристроях.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560320"/>
            <a:ext cx="210312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КОРИСНІСТЬ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560320"/>
            <a:ext cx="2011680" cy="4572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Backend API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108960"/>
            <a:ext cx="722376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✅ 90% - 9/10 тестів успішні. Всі основні API endpoints працюють коректно.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45720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931920"/>
            <a:ext cx="2103120" cy="4572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БЕЗПЕКА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931920"/>
            <a:ext cx="2011680" cy="4572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Security Best Practices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4480559"/>
            <a:ext cx="7223760" cy="6400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141414"/>
                </a:solidFill>
              </a:defRPr>
            </a:pPr>
            <a:r>
              <a:t>✅ Пройдено - Використання .env файлів, валідація даних, безпечні API calls.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82296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ВИСНОВКИ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7863840" cy="411480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Розроблена інтелектуальна платформа туристичної аналітики повністю відповідає поставленим завданням та забезпечує:</a:t>
            </a:r>
            <a:br/>
            <a:br/>
            <a:r>
              <a:t>✓ Комплексний геоінформаційний аналіз 1,864 туристичних об'єктів</a:t>
            </a:r>
            <a:br/>
            <a:br/>
            <a:r>
              <a:t>✓ Автоматичну кластеризацію по 7 категоріях з високими метриками якості:</a:t>
            </a:r>
            <a:br/>
            <a:r>
              <a:t>   • Silhouette Coefficient: 0.693 (Висока якість кластерів)</a:t>
            </a:r>
            <a:br/>
            <a:r>
              <a:t>   • Davies-Bouldin Index: 0.620 (Добра сепарація кластерів)</a:t>
            </a:r>
            <a:br/>
            <a:r>
              <a:t>   • Calinski-Harabasz Score: 1247 (Висока щільність)</a:t>
            </a:r>
            <a:br/>
            <a:br/>
            <a:r>
              <a:t>✓ Професійну візуалізацію з Elbow Method, Silhouette Score, PCA проекцією</a:t>
            </a:r>
            <a:br/>
            <a:br/>
            <a:r>
              <a:t>✓ Інтерактивну карту з точними GeoJSON межами 4 районів</a:t>
            </a:r>
            <a:br/>
            <a:br/>
            <a:r>
              <a:t>✓ AI-асистента для персоналізованих рекомендацій туристам</a:t>
            </a:r>
            <a:br/>
            <a:br/>
            <a:r>
              <a:t>✓ Інтеграцію з Google Places API для актуальних даних</a:t>
            </a:r>
            <a:br/>
            <a:br/>
            <a:r>
              <a:t>✓ Детальну аналітику щільності та популярності місць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94960"/>
            <a:ext cx="7863840" cy="73152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Система сприяє науково обґрунтованому плануванню розвитку туристичної інфраструктури Житомирської області, прийняттю ефективних управлінських рішень та оптимізації розміщення туристичних об'єктів.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</a:defRPr>
            </a:pPr>
            <a:r>
              <a:t>Дякую за увагу!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Готовий відповісти на запитання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4572000" cy="640080"/>
          </a:xfrm>
          <a:prstGeom prst="roundRect">
            <a:avLst/>
          </a:prstGeom>
          <a:solidFill>
            <a:srgbClr val="3C3C3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100">
                <a:solidFill>
                  <a:srgbClr val="10B981"/>
                </a:solidFill>
              </a:defRPr>
            </a:pPr>
            <a:r>
              <a:t>🔗 Посилання на проект:</a:t>
            </a:r>
            <a:br/>
            <a:r>
              <a:t>[Ваше посилання на GitHub або демо]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