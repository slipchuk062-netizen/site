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C8C8C8"/>
                </a:solidFill>
              </a:defRPr>
            </a:pPr>
            <a:r>
              <a:t>Міністерство освіти і науки України</a:t>
            </a:r>
            <a:br/>
            <a:r>
              <a:t>[Ваш Навчальний Заклад]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3716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3200" b="1">
                <a:solidFill>
                  <a:srgbClr val="10B981"/>
                </a:solidFill>
                <a:latin typeface="Arial"/>
              </a:defRPr>
            </a:pPr>
            <a:r>
              <a:t>Інтелектуальна платформа туристичної аналітики</a:t>
            </a:r>
            <a:br/>
            <a:r>
              <a:t>Житомирської області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з використанням кластеризації та геопросторового аналізу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C8C8C8"/>
                </a:solidFill>
              </a:defRPr>
            </a:pPr>
            <a:r>
              <a:t>[Ваше Прізвище, Ім'я, По батькові]</a:t>
            </a:r>
            <a:br/>
            <a:r>
              <a:t>122 «Комп'ютерні науки»</a:t>
            </a:r>
            <a:br/>
            <a:br/>
            <a:r>
              <a:t>Керівник роботи:</a:t>
            </a:r>
            <a:br/>
            <a:r>
              <a:t>[ПІБ Керівника, науковий ступінь, посада]</a:t>
            </a:r>
            <a:br/>
            <a:br/>
            <a:r>
              <a:t>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АКТУАЛЬНІСТЬ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657600" cy="18288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>
                <a:solidFill>
                  <a:srgbClr val="C8C8C8"/>
                </a:solidFill>
                <a:latin typeface="Arial"/>
              </a:defRPr>
            </a:pPr>
            <a:r>
              <a:t>Зростання туристичного потоку в Україні та необхідність ефективного планування розвитку туристичної інфраструктури вимагають сучасних інструментів аналізу та візуалізації геопросторових даних.</a:t>
            </a:r>
            <a:br/>
            <a:br/>
            <a:r>
              <a:t>Відсутність комплексних систем для аналізу туристичних об'єктів створює труднощі для прийняття обґрунтованих управлінських рішень.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188720"/>
            <a:ext cx="36576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✓ РІШЕННЯ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737360"/>
            <a:ext cx="3657600" cy="2194560"/>
          </a:xfrm>
          <a:prstGeom prst="roundRect">
            <a:avLst/>
          </a:prstGeom>
          <a:solidFill>
            <a:srgbClr val="2850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>
                <a:solidFill>
                  <a:srgbClr val="C8C8C8"/>
                </a:solidFill>
                <a:latin typeface="Arial"/>
              </a:defRPr>
            </a:pPr>
            <a:r>
              <a:t>Розробка інтелектуальної платформи з використанням алгоритмів машинного навчання (K-means кластеризація) та геоінформаційних технологій дозволить:</a:t>
            </a:r>
            <a:br/>
            <a:br/>
            <a:r>
              <a:t>• Автоматизувати процес аналізу 1,864 туристичних об'єктів</a:t>
            </a:r>
            <a:br/>
            <a:r>
              <a:t>• Виявити географічні закономірності розміщення</a:t>
            </a:r>
            <a:br/>
            <a:r>
              <a:t>• Надати науково обґрунтовані рекомендації для розвитку туристичної галузі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ПРЕДМЕТ, ОБ'ЄКТ ТА МЕТОДОЛОГІЯ ДОСЛІДЖЕННЯ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864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7132320" cy="128016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ПРЕДМЕТ</a:t>
            </a:r>
            <a:br/>
            <a:r>
              <a:t>Процес моделювання інтелектуальної системи для аналізу та кластеризації туристичних об'єктів на основі геопросторових даних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54864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651760"/>
            <a:ext cx="7132320" cy="128016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ОБ'ЄКТ ДОСЛІДЖЕННЯ</a:t>
            </a:r>
            <a:br/>
            <a:r>
              <a:t>Сукупність методів та засобів геоінформаційного аналізу, кластеризації та візуалізації туристичних даних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54864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7132320" cy="128016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МЕТОДОЛОГІЯ</a:t>
            </a:r>
            <a:br/>
            <a:r>
              <a:t>K-means кластеризація • Geospatial analysis (GeoJSON) • Machine learning metrics (Silhouette, Davies-Bouldin) • RESTful API • Responsive UI/UX дизайн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МЕТА КВАЛІФІКАЦІЙНОЇ РОБОТИ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863840" cy="118872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>
                <a:solidFill>
                  <a:srgbClr val="10B981"/>
                </a:solidFill>
                <a:latin typeface="Arial"/>
              </a:defRPr>
            </a:pPr>
            <a:r>
              <a:t>Розробка інтелектуальної платформи для комплексного аналізу туристичних об'єктів Житомирської області, що забезпечить автоматичну кластеризацію даних, візуалізацію географічних закономірностей та надання персоналізованих рекомендацій для туристів і управлінських рішень для розвитку регіону.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7863840" cy="36576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ЗАВДАННЯ: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3749039" cy="502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141414"/>
                </a:solidFill>
                <a:latin typeface="Arial"/>
              </a:defRPr>
            </a:pPr>
            <a:r>
              <a:t>1. Проаналізувати існуючі рішення для туристичної аналітики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11879"/>
            <a:ext cx="3749039" cy="502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141414"/>
                </a:solidFill>
                <a:latin typeface="Arial"/>
              </a:defRPr>
            </a:pPr>
            <a:r>
              <a:t>2. Розробити архітектуру full-stack системи (FastAPI + React + MongoDB)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3749039" cy="502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141414"/>
                </a:solidFill>
                <a:latin typeface="Arial"/>
              </a:defRPr>
            </a:pPr>
            <a:r>
              <a:t>3. Реалізувати K-means кластеризацію 1,864 об'єктів по 7 категоріях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00600"/>
            <a:ext cx="3749039" cy="502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141414"/>
                </a:solidFill>
                <a:latin typeface="Arial"/>
              </a:defRPr>
            </a:pPr>
            <a:r>
              <a:t>4. Інтегрувати точні GeoJSON межі 4 районів Житомирської області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017520"/>
            <a:ext cx="3749039" cy="502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141414"/>
                </a:solidFill>
                <a:latin typeface="Arial"/>
              </a:defRPr>
            </a:pPr>
            <a:r>
              <a:t>5. Створити інтерактивну візуалізацію з Elbow Method, Silhouette Score, Dendrogram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611879"/>
            <a:ext cx="3749039" cy="502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141414"/>
                </a:solidFill>
                <a:latin typeface="Arial"/>
              </a:defRPr>
            </a:pPr>
            <a:r>
              <a:t>6. Інтегрувати Google Places API для актуальних даних про об'єкти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4206240"/>
            <a:ext cx="3749039" cy="502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141414"/>
                </a:solidFill>
                <a:latin typeface="Arial"/>
              </a:defRPr>
            </a:pPr>
            <a:r>
              <a:t>7. Розробити AI-асистента на базі Claude Sonnet для рекомендацій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800600"/>
            <a:ext cx="3749039" cy="5029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141414"/>
                </a:solidFill>
                <a:latin typeface="Arial"/>
              </a:defRPr>
            </a:pPr>
            <a:r>
              <a:t>8. Провести комплексне тестування системи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АНАЛІЗ ІСНУЮЧИХ РІШЕНЬ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572768"/>
                <a:gridCol w="1572768"/>
                <a:gridCol w="1572768"/>
                <a:gridCol w="1572768"/>
              </a:tblGrid>
              <a:tr h="822960">
                <a:tc>
                  <a:txBody>
                    <a:bodyPr/>
                    <a:lstStyle/>
                    <a:p>
                      <a:r>
                        <a:t>ПАРАМЕТР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Google Maps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TripAdvisor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Booking.com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Наша Платформа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t>Інтерфейс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t>Кластерний аналіз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t>Геопросторова аналітика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t>AI-рекомендації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59E0B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59E0B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