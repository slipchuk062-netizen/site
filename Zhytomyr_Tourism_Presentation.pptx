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C8C8C8"/>
                </a:solidFill>
                <a:latin typeface="Arial"/>
              </a:defRPr>
            </a:pPr>
            <a:r>
              <a:t>Міністерство освіти і науки України</a:t>
            </a:r>
            <a:br/>
            <a:r>
              <a:t>[Ваш Навчальний Заклад]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828800"/>
            <a:ext cx="7315200" cy="1371600"/>
          </a:xfrm>
          <a:prstGeom prst="roundRect">
            <a:avLst/>
          </a:prstGeom>
          <a:solidFill>
            <a:srgbClr val="3C3C3C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defRPr sz="3000" b="1">
                <a:solidFill>
                  <a:srgbClr val="10B981"/>
                </a:solidFill>
                <a:latin typeface="Arial"/>
              </a:defRPr>
            </a:pPr>
            <a:r>
              <a:t>Інтелектуальна платформа туристичної аналітики</a:t>
            </a:r>
            <a:br/>
            <a:r>
              <a:t>Житомирської області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383280"/>
            <a:ext cx="6400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C8C8C8"/>
                </a:solidFill>
                <a:latin typeface="Arial"/>
              </a:defRPr>
            </a:pPr>
            <a:r>
              <a:t>з використанням кластеризації та геопросторового аналізу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4389120"/>
            <a:ext cx="54864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C8C8C8"/>
                </a:solidFill>
                <a:latin typeface="Arial"/>
              </a:defRPr>
            </a:pPr>
            <a:r>
              <a:t>[Ваше ПІБ]</a:t>
            </a:r>
            <a:br/>
            <a:r>
              <a:t>122 «Комп'ютерні науки»</a:t>
            </a:r>
            <a:br/>
            <a:br/>
            <a:r>
              <a:t>Керівник:</a:t>
            </a:r>
            <a:br/>
            <a:r>
              <a:t>[ПІБ Керівника]</a:t>
            </a:r>
            <a:br/>
            <a:br/>
            <a:r>
              <a:t>2024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63093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646464"/>
                </a:solidFill>
                <a:latin typeface="Arial"/>
              </a:defRPr>
            </a:pPr>
            <a:r>
              <a:t>1 /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74320"/>
            <a:ext cx="8229600" cy="548640"/>
          </a:xfrm>
          <a:prstGeom prst="roundRect">
            <a:avLst/>
          </a:prstGeom>
          <a:solidFill>
            <a:srgbClr val="10B981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defRPr sz="2600" b="1">
                <a:solidFill>
                  <a:srgbClr val="FFFFFF"/>
                </a:solidFill>
                <a:latin typeface="Arial"/>
              </a:defRPr>
            </a:pPr>
            <a:r>
              <a:t>АКТУАЛЬНІСТЬ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188720"/>
            <a:ext cx="3657600" cy="1828800"/>
          </a:xfrm>
          <a:prstGeom prst="roundRect">
            <a:avLst/>
          </a:prstGeom>
          <a:solidFill>
            <a:srgbClr val="3C3C3C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defRPr sz="1200">
                <a:solidFill>
                  <a:srgbClr val="C8C8C8"/>
                </a:solidFill>
                <a:latin typeface="Arial"/>
              </a:defRPr>
            </a:pPr>
            <a:r>
              <a:t>Зростання туристичного потоку в Україні та необхідність ефективного планування розвитку туристичної інфраструктури вимагають сучасних інструментів аналізу.</a:t>
            </a:r>
            <a:br/>
            <a:br/>
            <a:r>
              <a:t>Відсутність комплексних систем створює труднощі для прийняття управлінських рішень.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754880" y="1188720"/>
            <a:ext cx="3657600" cy="457200"/>
          </a:xfrm>
          <a:prstGeom prst="roundRect">
            <a:avLst/>
          </a:prstGeom>
          <a:solidFill>
            <a:srgbClr val="10B981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✓ РІШЕННЯ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54880" y="1737360"/>
            <a:ext cx="3657600" cy="2194560"/>
          </a:xfrm>
          <a:prstGeom prst="roundRect">
            <a:avLst/>
          </a:prstGeom>
          <a:solidFill>
            <a:srgbClr val="28503C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defRPr sz="1100">
                <a:solidFill>
                  <a:srgbClr val="C8C8C8"/>
                </a:solidFill>
                <a:latin typeface="Arial"/>
              </a:defRPr>
            </a:pPr>
            <a:r>
              <a:t>Розробка платформи з K-means кластеризацією дозволить:</a:t>
            </a:r>
            <a:br/>
            <a:br/>
            <a:r>
              <a:t>• Автоматизувати аналіз 1,864 об'єктів</a:t>
            </a:r>
            <a:br/>
            <a:r>
              <a:t>• Виявити географічні закономірності</a:t>
            </a:r>
            <a:br/>
            <a:r>
              <a:t>• Надати науково обґрунтовані рекомендації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63093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646464"/>
                </a:solidFill>
                <a:latin typeface="Arial"/>
              </a:defRPr>
            </a:pPr>
            <a:r>
              <a:t>2 /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74320"/>
            <a:ext cx="8229600" cy="548640"/>
          </a:xfrm>
          <a:prstGeom prst="roundRect">
            <a:avLst/>
          </a:prstGeom>
          <a:solidFill>
            <a:srgbClr val="10B981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defRPr sz="2600" b="1">
                <a:solidFill>
                  <a:srgbClr val="FFFFFF"/>
                </a:solidFill>
                <a:latin typeface="Arial"/>
              </a:defRPr>
            </a:pPr>
            <a:r>
              <a:t>ПРЕДМЕТ, ОБ'ЄКТ ТА МЕТОДОЛОГІЯ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188720"/>
            <a:ext cx="548640" cy="548640"/>
          </a:xfrm>
          <a:prstGeom prst="roundRect">
            <a:avLst/>
          </a:prstGeom>
          <a:solidFill>
            <a:srgbClr val="10B981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defRPr sz="2200" b="1">
                <a:solidFill>
                  <a:srgbClr val="FFFFFF"/>
                </a:solidFill>
                <a:latin typeface="Arial"/>
              </a:defRPr>
            </a:pPr>
            <a:r>
              <a:t>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1188720"/>
            <a:ext cx="7132320" cy="1188720"/>
          </a:xfrm>
          <a:prstGeom prst="roundRect">
            <a:avLst/>
          </a:prstGeom>
          <a:solidFill>
            <a:srgbClr val="3C3C3C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defRPr sz="1300" b="1">
                <a:solidFill>
                  <a:srgbClr val="10B981"/>
                </a:solidFill>
                <a:latin typeface="Arial"/>
              </a:defRPr>
            </a:pPr>
            <a:r>
              <a:t>ПРЕДМЕТ</a:t>
            </a:r>
            <a:br/>
            <a:r>
              <a:t>Моделювання системи для аналізу та кластеризації туристичних об'єктів на основі геопросторових даних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560320"/>
            <a:ext cx="548640" cy="548640"/>
          </a:xfrm>
          <a:prstGeom prst="roundRect">
            <a:avLst/>
          </a:prstGeom>
          <a:solidFill>
            <a:srgbClr val="10B981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defRPr sz="2200" b="1">
                <a:solidFill>
                  <a:srgbClr val="FFFFFF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1600" y="2560320"/>
            <a:ext cx="7132320" cy="1188720"/>
          </a:xfrm>
          <a:prstGeom prst="roundRect">
            <a:avLst/>
          </a:prstGeom>
          <a:solidFill>
            <a:srgbClr val="3C3C3C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defRPr sz="1300" b="1">
                <a:solidFill>
                  <a:srgbClr val="10B981"/>
                </a:solidFill>
                <a:latin typeface="Arial"/>
              </a:defRPr>
            </a:pPr>
            <a:r>
              <a:t>ОБ'ЄКТ</a:t>
            </a:r>
            <a:br/>
            <a:r>
              <a:t>Методи геоінформаційного аналізу, кластеризації та візуалізації туристичних даних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931920"/>
            <a:ext cx="548640" cy="548640"/>
          </a:xfrm>
          <a:prstGeom prst="roundRect">
            <a:avLst/>
          </a:prstGeom>
          <a:solidFill>
            <a:srgbClr val="10B981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defRPr sz="2200" b="1">
                <a:solidFill>
                  <a:srgbClr val="FFFFFF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71600" y="3931920"/>
            <a:ext cx="7132320" cy="1188720"/>
          </a:xfrm>
          <a:prstGeom prst="roundRect">
            <a:avLst/>
          </a:prstGeom>
          <a:solidFill>
            <a:srgbClr val="3C3C3C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defRPr sz="1300" b="1">
                <a:solidFill>
                  <a:srgbClr val="10B981"/>
                </a:solidFill>
                <a:latin typeface="Arial"/>
              </a:defRPr>
            </a:pPr>
            <a:r>
              <a:t>МЕТОДОЛОГІЯ</a:t>
            </a:r>
            <a:br/>
            <a:r>
              <a:t>K-means • GeoJSON • Machine Learning • RESTful API • Responsive UI/UX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3093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646464"/>
                </a:solidFill>
                <a:latin typeface="Arial"/>
              </a:defRPr>
            </a:pPr>
            <a:r>
              <a:t>3 /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74320"/>
            <a:ext cx="8229600" cy="548640"/>
          </a:xfrm>
          <a:prstGeom prst="roundRect">
            <a:avLst/>
          </a:prstGeom>
          <a:solidFill>
            <a:srgbClr val="10B981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defRPr sz="2600" b="1">
                <a:solidFill>
                  <a:srgbClr val="FFFFFF"/>
                </a:solidFill>
                <a:latin typeface="Arial"/>
              </a:defRPr>
            </a:pPr>
            <a:r>
              <a:t>МЕТА ТА ЗАВДАННЯ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097280"/>
            <a:ext cx="7863840" cy="1097280"/>
          </a:xfrm>
          <a:prstGeom prst="roundRect">
            <a:avLst/>
          </a:prstGeom>
          <a:solidFill>
            <a:srgbClr val="3C3C3C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defRPr sz="1200">
                <a:solidFill>
                  <a:srgbClr val="10B981"/>
                </a:solidFill>
                <a:latin typeface="Arial"/>
              </a:defRPr>
            </a:pPr>
            <a:r>
              <a:t>Розробка платформи для комплексного аналізу туристичних об'єктів Житомирської області з автоматичною кластеризацією, візуалізацією та AI-рекомендаціями.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286000"/>
            <a:ext cx="7863840" cy="365760"/>
          </a:xfrm>
          <a:prstGeom prst="roundRect">
            <a:avLst/>
          </a:prstGeom>
          <a:solidFill>
            <a:srgbClr val="10B981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ЗАВДАННЯ: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743200"/>
            <a:ext cx="3749039" cy="457200"/>
          </a:xfrm>
          <a:prstGeom prst="roundRect">
            <a:avLst/>
          </a:prstGeom>
          <a:solidFill>
            <a:srgbClr val="DCFCE7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defRPr sz="1000">
                <a:solidFill>
                  <a:srgbClr val="141414"/>
                </a:solidFill>
                <a:latin typeface="Arial"/>
              </a:defRPr>
            </a:pPr>
            <a:r>
              <a:t>1. Аналіз існуючих рішень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291840"/>
            <a:ext cx="3749039" cy="457200"/>
          </a:xfrm>
          <a:prstGeom prst="roundRect">
            <a:avLst/>
          </a:prstGeom>
          <a:solidFill>
            <a:srgbClr val="DCFCE7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defRPr sz="1000">
                <a:solidFill>
                  <a:srgbClr val="141414"/>
                </a:solidFill>
                <a:latin typeface="Arial"/>
              </a:defRPr>
            </a:pPr>
            <a:r>
              <a:t>2. Архітектура full-stack системи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40480"/>
            <a:ext cx="3749039" cy="457200"/>
          </a:xfrm>
          <a:prstGeom prst="roundRect">
            <a:avLst/>
          </a:prstGeom>
          <a:solidFill>
            <a:srgbClr val="DCFCE7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defRPr sz="1000">
                <a:solidFill>
                  <a:srgbClr val="141414"/>
                </a:solidFill>
                <a:latin typeface="Arial"/>
              </a:defRPr>
            </a:pPr>
            <a:r>
              <a:t>3. K-means кластеризація 1,864 об'єктів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389120"/>
            <a:ext cx="3749039" cy="457200"/>
          </a:xfrm>
          <a:prstGeom prst="roundRect">
            <a:avLst/>
          </a:prstGeom>
          <a:solidFill>
            <a:srgbClr val="DCFCE7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defRPr sz="1000">
                <a:solidFill>
                  <a:srgbClr val="141414"/>
                </a:solidFill>
                <a:latin typeface="Arial"/>
              </a:defRPr>
            </a:pPr>
            <a:r>
              <a:t>4. Інтеграція GeoJSON меж 4 районів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54880" y="2743200"/>
            <a:ext cx="3749039" cy="457200"/>
          </a:xfrm>
          <a:prstGeom prst="roundRect">
            <a:avLst/>
          </a:prstGeom>
          <a:solidFill>
            <a:srgbClr val="DCFCE7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defRPr sz="1000">
                <a:solidFill>
                  <a:srgbClr val="141414"/>
                </a:solidFill>
                <a:latin typeface="Arial"/>
              </a:defRPr>
            </a:pPr>
            <a:r>
              <a:t>5. Візуалізація з Elbow, Silhouette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0" y="3291840"/>
            <a:ext cx="3749039" cy="457200"/>
          </a:xfrm>
          <a:prstGeom prst="roundRect">
            <a:avLst/>
          </a:prstGeom>
          <a:solidFill>
            <a:srgbClr val="DCFCE7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defRPr sz="1000">
                <a:solidFill>
                  <a:srgbClr val="141414"/>
                </a:solidFill>
                <a:latin typeface="Arial"/>
              </a:defRPr>
            </a:pPr>
            <a:r>
              <a:t>6. Google Places API інтеграція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54880" y="3840480"/>
            <a:ext cx="3749039" cy="457200"/>
          </a:xfrm>
          <a:prstGeom prst="roundRect">
            <a:avLst/>
          </a:prstGeom>
          <a:solidFill>
            <a:srgbClr val="DCFCE7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defRPr sz="1000">
                <a:solidFill>
                  <a:srgbClr val="141414"/>
                </a:solidFill>
                <a:latin typeface="Arial"/>
              </a:defRPr>
            </a:pPr>
            <a:r>
              <a:t>7. AI-асистент Claude Sonnet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54880" y="4389120"/>
            <a:ext cx="3749039" cy="457200"/>
          </a:xfrm>
          <a:prstGeom prst="roundRect">
            <a:avLst/>
          </a:prstGeom>
          <a:solidFill>
            <a:srgbClr val="DCFCE7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defRPr sz="1000">
                <a:solidFill>
                  <a:srgbClr val="141414"/>
                </a:solidFill>
                <a:latin typeface="Arial"/>
              </a:defRPr>
            </a:pPr>
            <a:r>
              <a:t>8. Комплексне тестування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0" y="63093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646464"/>
                </a:solidFill>
                <a:latin typeface="Arial"/>
              </a:defRPr>
            </a:pPr>
            <a:r>
              <a:t>4 /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74320"/>
            <a:ext cx="8229600" cy="548640"/>
          </a:xfrm>
          <a:prstGeom prst="roundRect">
            <a:avLst/>
          </a:prstGeom>
          <a:solidFill>
            <a:srgbClr val="10B981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defRPr sz="2600" b="1">
                <a:solidFill>
                  <a:srgbClr val="FFFFFF"/>
                </a:solidFill>
                <a:latin typeface="Arial"/>
              </a:defRPr>
            </a:pPr>
            <a:r>
              <a:t>АНАЛІЗ ІСНУЮЧИХ РІШЕНЬ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371600"/>
          <a:ext cx="786384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2768"/>
                <a:gridCol w="1572768"/>
                <a:gridCol w="1572768"/>
                <a:gridCol w="1572768"/>
                <a:gridCol w="1572768"/>
              </a:tblGrid>
              <a:tr h="822960"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10B981"/>
                          </a:solidFill>
                        </a:defRPr>
                      </a:pPr>
                      <a:r>
                        <a:t>ПАРАМЕТР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10B981"/>
                          </a:solidFill>
                        </a:defRPr>
                      </a:pPr>
                      <a:r>
                        <a:t>Google Maps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10B981"/>
                          </a:solidFill>
                        </a:defRPr>
                      </a:pPr>
                      <a:r>
                        <a:t>TripAdvisor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10B981"/>
                          </a:solidFill>
                        </a:defRPr>
                      </a:pPr>
                      <a:r>
                        <a:t>Booking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10B981"/>
                          </a:solidFill>
                        </a:defRPr>
                      </a:pPr>
                      <a:r>
                        <a:t>Наша платформа</a:t>
                      </a:r>
                    </a:p>
                  </a:txBody>
                  <a:tcPr>
                    <a:solidFill>
                      <a:srgbClr val="3C3C3C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C8C8C8"/>
                          </a:solidFill>
                        </a:defRPr>
                      </a:pPr>
                      <a:r>
                        <a:t>Інтерфейс</a:t>
                      </a:r>
                    </a:p>
                  </a:txBody>
                  <a:tcPr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10B981"/>
                          </a:solidFill>
                        </a:defRPr>
                      </a:pPr>
                      <a:r>
                        <a:t>+</a:t>
                      </a:r>
                    </a:p>
                  </a:txBody>
                  <a:tcPr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10B981"/>
                          </a:solidFill>
                        </a:defRPr>
                      </a:pPr>
                      <a:r>
                        <a:t>+</a:t>
                      </a:r>
                    </a:p>
                  </a:txBody>
                  <a:tcPr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10B981"/>
                          </a:solidFill>
                        </a:defRPr>
                      </a:pPr>
                      <a:r>
                        <a:t>+</a:t>
                      </a:r>
                    </a:p>
                  </a:txBody>
                  <a:tcPr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10B981"/>
                          </a:solidFill>
                        </a:defRPr>
                      </a:pPr>
                      <a:r>
                        <a:t>+</a:t>
                      </a:r>
                    </a:p>
                  </a:txBody>
                  <a:tcPr>
                    <a:solidFill>
                      <a:srgbClr val="2D2D2D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C8C8C8"/>
                          </a:solidFill>
                        </a:defRPr>
                      </a:pPr>
                      <a:r>
                        <a:t>Кластерний аналіз</a:t>
                      </a:r>
                    </a:p>
                  </a:txBody>
                  <a:tcPr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EF4444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EF4444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EF4444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10B981"/>
                          </a:solidFill>
                        </a:defRPr>
                      </a:pPr>
                      <a:r>
                        <a:t>+</a:t>
                      </a:r>
                    </a:p>
                  </a:txBody>
                  <a:tcPr>
                    <a:solidFill>
                      <a:srgbClr val="2D2D2D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C8C8C8"/>
                          </a:solidFill>
                        </a:defRPr>
                      </a:pPr>
                      <a:r>
                        <a:t>Геопросторова аналітика</a:t>
                      </a:r>
                    </a:p>
                  </a:txBody>
                  <a:tcPr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EF4444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EF4444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EF4444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10B981"/>
                          </a:solidFill>
                        </a:defRPr>
                      </a:pPr>
                      <a:r>
                        <a:t>+</a:t>
                      </a:r>
                    </a:p>
                  </a:txBody>
                  <a:tcPr>
                    <a:solidFill>
                      <a:srgbClr val="2D2D2D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C8C8C8"/>
                          </a:solidFill>
                        </a:defRPr>
                      </a:pPr>
                      <a:r>
                        <a:t>AI-рекомендації</a:t>
                      </a:r>
                    </a:p>
                  </a:txBody>
                  <a:tcPr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EF4444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59E0B"/>
                          </a:solidFill>
                        </a:defRPr>
                      </a:pPr>
                      <a:r>
                        <a:t>~</a:t>
                      </a:r>
                    </a:p>
                  </a:txBody>
                  <a:tcPr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59E0B"/>
                          </a:solidFill>
                        </a:defRPr>
                      </a:pPr>
                      <a:r>
                        <a:t>~</a:t>
                      </a:r>
                    </a:p>
                  </a:txBody>
                  <a:tcPr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10B981"/>
                          </a:solidFill>
                        </a:defRPr>
                      </a:pPr>
                      <a:r>
                        <a:t>+</a:t>
                      </a:r>
                    </a:p>
                  </a:txBody>
                  <a:tcPr>
                    <a:solidFill>
                      <a:srgbClr val="2D2D2D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0" y="63093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646464"/>
                </a:solidFill>
                <a:latin typeface="Arial"/>
              </a:defRPr>
            </a:pPr>
            <a:r>
              <a:t>5 /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74320"/>
            <a:ext cx="8229600" cy="548640"/>
          </a:xfrm>
          <a:prstGeom prst="roundRect">
            <a:avLst/>
          </a:prstGeom>
          <a:solidFill>
            <a:srgbClr val="10B981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defRPr sz="2600" b="1">
                <a:solidFill>
                  <a:srgbClr val="FFFFFF"/>
                </a:solidFill>
                <a:latin typeface="Arial"/>
              </a:defRPr>
            </a:pPr>
            <a:r>
              <a:t>ПРОБЛЕМИ ТА РІШЕННЯ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188720"/>
            <a:ext cx="3657600" cy="365760"/>
          </a:xfrm>
          <a:prstGeom prst="roundRect">
            <a:avLst/>
          </a:prstGeom>
          <a:solidFill>
            <a:srgbClr val="8B0000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❌ ПРОБЛЕМИ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3657600" cy="594360"/>
          </a:xfrm>
          <a:prstGeom prst="roundRect">
            <a:avLst/>
          </a:prstGeom>
          <a:solidFill>
            <a:srgbClr val="3C3C3C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defRPr sz="1000">
                <a:solidFill>
                  <a:srgbClr val="C8C8C8"/>
                </a:solidFill>
                <a:latin typeface="Arial"/>
              </a:defRPr>
            </a:pPr>
            <a:r>
              <a:t>Відсутність комплексного аналізу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31720"/>
            <a:ext cx="3657600" cy="594360"/>
          </a:xfrm>
          <a:prstGeom prst="roundRect">
            <a:avLst/>
          </a:prstGeom>
          <a:solidFill>
            <a:srgbClr val="3C3C3C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defRPr sz="1000">
                <a:solidFill>
                  <a:srgbClr val="C8C8C8"/>
                </a:solidFill>
                <a:latin typeface="Arial"/>
              </a:defRPr>
            </a:pPr>
            <a:r>
              <a:t>Неможливість виявлення закономірностей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017520"/>
            <a:ext cx="3657600" cy="594360"/>
          </a:xfrm>
          <a:prstGeom prst="roundRect">
            <a:avLst/>
          </a:prstGeom>
          <a:solidFill>
            <a:srgbClr val="3C3C3C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defRPr sz="1000">
                <a:solidFill>
                  <a:srgbClr val="C8C8C8"/>
                </a:solidFill>
                <a:latin typeface="Arial"/>
              </a:defRPr>
            </a:pPr>
            <a:r>
              <a:t>Відсутність наукових метрик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03320"/>
            <a:ext cx="3657600" cy="594360"/>
          </a:xfrm>
          <a:prstGeom prst="roundRect">
            <a:avLst/>
          </a:prstGeom>
          <a:solidFill>
            <a:srgbClr val="3C3C3C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defRPr sz="1000">
                <a:solidFill>
                  <a:srgbClr val="C8C8C8"/>
                </a:solidFill>
                <a:latin typeface="Arial"/>
              </a:defRPr>
            </a:pPr>
            <a:r>
              <a:t>Неточні межі районів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0" y="1188720"/>
            <a:ext cx="3657600" cy="365760"/>
          </a:xfrm>
          <a:prstGeom prst="roundRect">
            <a:avLst/>
          </a:prstGeom>
          <a:solidFill>
            <a:srgbClr val="10B981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✓ РІШЕННЯ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54880" y="1645920"/>
            <a:ext cx="3657600" cy="594360"/>
          </a:xfrm>
          <a:prstGeom prst="roundRect">
            <a:avLst/>
          </a:prstGeom>
          <a:solidFill>
            <a:srgbClr val="DCFCE7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defRPr sz="1000">
                <a:solidFill>
                  <a:srgbClr val="141414"/>
                </a:solidFill>
                <a:latin typeface="Arial"/>
              </a:defRPr>
            </a:pPr>
            <a:r>
              <a:t>K-means кластеризація 1,864 об'єктів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0" y="2331720"/>
            <a:ext cx="3657600" cy="594360"/>
          </a:xfrm>
          <a:prstGeom prst="roundRect">
            <a:avLst/>
          </a:prstGeom>
          <a:solidFill>
            <a:srgbClr val="DCFCE7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defRPr sz="1000">
                <a:solidFill>
                  <a:srgbClr val="141414"/>
                </a:solidFill>
                <a:latin typeface="Arial"/>
              </a:defRPr>
            </a:pPr>
            <a:r>
              <a:t>Інтерактивна карта з GeoJSON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54880" y="3017520"/>
            <a:ext cx="3657600" cy="594360"/>
          </a:xfrm>
          <a:prstGeom prst="roundRect">
            <a:avLst/>
          </a:prstGeom>
          <a:solidFill>
            <a:srgbClr val="DCFCE7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defRPr sz="1000">
                <a:solidFill>
                  <a:srgbClr val="141414"/>
                </a:solidFill>
                <a:latin typeface="Arial"/>
              </a:defRPr>
            </a:pPr>
            <a:r>
              <a:t>Silhouette 0.693, Davies-Bouldin 0.62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54880" y="3703320"/>
            <a:ext cx="3657600" cy="594360"/>
          </a:xfrm>
          <a:prstGeom prst="roundRect">
            <a:avLst/>
          </a:prstGeom>
          <a:solidFill>
            <a:srgbClr val="DCFCE7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defRPr sz="1000">
                <a:solidFill>
                  <a:srgbClr val="141414"/>
                </a:solidFill>
                <a:latin typeface="Arial"/>
              </a:defRPr>
            </a:pPr>
            <a:r>
              <a:t>Точні дані з OSM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0" y="63093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646464"/>
                </a:solidFill>
                <a:latin typeface="Arial"/>
              </a:defRPr>
            </a:pPr>
            <a:r>
              <a:t>6 /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74320"/>
            <a:ext cx="8229600" cy="548640"/>
          </a:xfrm>
          <a:prstGeom prst="roundRect">
            <a:avLst/>
          </a:prstGeom>
          <a:solidFill>
            <a:srgbClr val="10B981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defRPr sz="2600" b="1">
                <a:solidFill>
                  <a:srgbClr val="FFFFFF"/>
                </a:solidFill>
                <a:latin typeface="Arial"/>
              </a:defRPr>
            </a:pPr>
            <a:r>
              <a:t>РЕАЛІЗАЦІЯ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188720"/>
            <a:ext cx="457200" cy="457200"/>
          </a:xfrm>
          <a:prstGeom prst="roundRect">
            <a:avLst/>
          </a:prstGeom>
          <a:solidFill>
            <a:srgbClr val="10B981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188720"/>
            <a:ext cx="3657600" cy="914400"/>
          </a:xfrm>
          <a:prstGeom prst="roundRect">
            <a:avLst/>
          </a:prstGeom>
          <a:solidFill>
            <a:srgbClr val="3C3C3C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defRPr sz="1100" b="1">
                <a:solidFill>
                  <a:srgbClr val="10B981"/>
                </a:solidFill>
                <a:latin typeface="Arial"/>
              </a:defRPr>
            </a:pPr>
            <a:r>
              <a:t>BACKEND</a:t>
            </a:r>
            <a:br/>
            <a:r>
              <a:t>FastAPI • Python • MongoDB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120640" y="1188720"/>
            <a:ext cx="3383280" cy="914400"/>
          </a:xfrm>
          <a:prstGeom prst="roundRect">
            <a:avLst/>
          </a:prstGeom>
          <a:solidFill>
            <a:srgbClr val="DCFCE7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defRPr sz="900">
                <a:solidFill>
                  <a:srgbClr val="141414"/>
                </a:solidFill>
                <a:latin typeface="Arial"/>
              </a:defRPr>
            </a:pPr>
            <a:r>
              <a:t>RESTful API • Async • Scikit-learn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240280"/>
            <a:ext cx="457200" cy="457200"/>
          </a:xfrm>
          <a:prstGeom prst="roundRect">
            <a:avLst/>
          </a:prstGeom>
          <a:solidFill>
            <a:srgbClr val="10B981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280160" y="2240280"/>
            <a:ext cx="3657600" cy="914400"/>
          </a:xfrm>
          <a:prstGeom prst="roundRect">
            <a:avLst/>
          </a:prstGeom>
          <a:solidFill>
            <a:srgbClr val="3C3C3C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defRPr sz="1100" b="1">
                <a:solidFill>
                  <a:srgbClr val="10B981"/>
                </a:solidFill>
                <a:latin typeface="Arial"/>
              </a:defRPr>
            </a:pPr>
            <a:r>
              <a:t>FRONTEND</a:t>
            </a:r>
            <a:br/>
            <a:r>
              <a:t>React 19 • Tailwind • Recharts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20640" y="2240280"/>
            <a:ext cx="3383280" cy="914400"/>
          </a:xfrm>
          <a:prstGeom prst="roundRect">
            <a:avLst/>
          </a:prstGeom>
          <a:solidFill>
            <a:srgbClr val="DCFCE7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defRPr sz="900">
                <a:solidFill>
                  <a:srgbClr val="141414"/>
                </a:solidFill>
                <a:latin typeface="Arial"/>
              </a:defRPr>
            </a:pPr>
            <a:r>
              <a:t>Компонентний підхід • Responsive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291840"/>
            <a:ext cx="457200" cy="457200"/>
          </a:xfrm>
          <a:prstGeom prst="roundRect">
            <a:avLst/>
          </a:prstGeom>
          <a:solidFill>
            <a:srgbClr val="10B981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80160" y="3291840"/>
            <a:ext cx="3657600" cy="914400"/>
          </a:xfrm>
          <a:prstGeom prst="roundRect">
            <a:avLst/>
          </a:prstGeom>
          <a:solidFill>
            <a:srgbClr val="3C3C3C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defRPr sz="1100" b="1">
                <a:solidFill>
                  <a:srgbClr val="10B981"/>
                </a:solidFill>
                <a:latin typeface="Arial"/>
              </a:defRPr>
            </a:pPr>
            <a:r>
              <a:t>КАРТОГРАФІЯ</a:t>
            </a:r>
            <a:br/>
            <a:r>
              <a:t>Leaflet.js • GeoJSON • OSM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20640" y="3291840"/>
            <a:ext cx="3383280" cy="914400"/>
          </a:xfrm>
          <a:prstGeom prst="roundRect">
            <a:avLst/>
          </a:prstGeom>
          <a:solidFill>
            <a:srgbClr val="DCFCE7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defRPr sz="900">
                <a:solidFill>
                  <a:srgbClr val="141414"/>
                </a:solidFill>
                <a:latin typeface="Arial"/>
              </a:defRPr>
            </a:pPr>
            <a:r>
              <a:t>Інтерактивні карти • Clustering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343400"/>
            <a:ext cx="457200" cy="457200"/>
          </a:xfrm>
          <a:prstGeom prst="roundRect">
            <a:avLst/>
          </a:prstGeom>
          <a:solidFill>
            <a:srgbClr val="10B981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80160" y="4343400"/>
            <a:ext cx="3657600" cy="914400"/>
          </a:xfrm>
          <a:prstGeom prst="roundRect">
            <a:avLst/>
          </a:prstGeom>
          <a:solidFill>
            <a:srgbClr val="3C3C3C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defRPr sz="1100" b="1">
                <a:solidFill>
                  <a:srgbClr val="10B981"/>
                </a:solidFill>
                <a:latin typeface="Arial"/>
              </a:defRPr>
            </a:pPr>
            <a:r>
              <a:t>AI</a:t>
            </a:r>
            <a:br/>
            <a:r>
              <a:t>Claude Sonnet 4 • Google Places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20640" y="4343400"/>
            <a:ext cx="3383280" cy="914400"/>
          </a:xfrm>
          <a:prstGeom prst="roundRect">
            <a:avLst/>
          </a:prstGeom>
          <a:solidFill>
            <a:srgbClr val="DCFCE7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defRPr sz="900">
                <a:solidFill>
                  <a:srgbClr val="141414"/>
                </a:solidFill>
                <a:latin typeface="Arial"/>
              </a:defRPr>
            </a:pPr>
            <a:r>
              <a:t>AI-асистент • Real-time дані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63093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646464"/>
                </a:solidFill>
                <a:latin typeface="Arial"/>
              </a:defRPr>
            </a:pPr>
            <a:r>
              <a:t>7 /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74320"/>
            <a:ext cx="8229600" cy="548640"/>
          </a:xfrm>
          <a:prstGeom prst="roundRect">
            <a:avLst/>
          </a:prstGeom>
          <a:solidFill>
            <a:srgbClr val="10B981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defRPr sz="2600" b="1">
                <a:solidFill>
                  <a:srgbClr val="FFFFFF"/>
                </a:solidFill>
                <a:latin typeface="Arial"/>
              </a:defRPr>
            </a:pPr>
            <a:r>
              <a:t>ДЕМОНСТРАЦІЯ СИСТЕМИ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28800" y="1371600"/>
            <a:ext cx="5486400" cy="2560320"/>
          </a:xfrm>
          <a:prstGeom prst="roundRect">
            <a:avLst/>
          </a:prstGeom>
          <a:solidFill>
            <a:srgbClr val="3C3C3C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defRPr sz="1600">
                <a:solidFill>
                  <a:srgbClr val="10B981"/>
                </a:solidFill>
                <a:latin typeface="Arial"/>
              </a:defRPr>
            </a:pPr>
            <a:r>
              <a:t>📹 МІСЦЕ ДЛЯ ВІДЕО</a:t>
            </a:r>
            <a:br/>
            <a:br/>
            <a:r>
              <a:t>(Додайте скріншот або відео)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4389120"/>
            <a:ext cx="1371600" cy="548640"/>
          </a:xfrm>
          <a:prstGeom prst="roundRect">
            <a:avLst/>
          </a:prstGeom>
          <a:solidFill>
            <a:srgbClr val="10B981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defRPr sz="2400" b="1">
                <a:solidFill>
                  <a:srgbClr val="FFFFFF"/>
                </a:solidFill>
                <a:latin typeface="Arial"/>
              </a:defRPr>
            </a:pPr>
            <a:r>
              <a:t>1,864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02920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C8C8C8"/>
                </a:solidFill>
                <a:latin typeface="Arial"/>
              </a:defRPr>
            </a:pPr>
            <a:r>
              <a:t>Об'єктів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0" y="4389120"/>
            <a:ext cx="1371600" cy="548640"/>
          </a:xfrm>
          <a:prstGeom prst="roundRect">
            <a:avLst/>
          </a:prstGeom>
          <a:solidFill>
            <a:srgbClr val="10B981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defRPr sz="2400" b="1">
                <a:solidFill>
                  <a:srgbClr val="FFFFFF"/>
                </a:solidFill>
                <a:latin typeface="Arial"/>
              </a:defRPr>
            </a:pPr>
            <a: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502920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C8C8C8"/>
                </a:solidFill>
                <a:latin typeface="Arial"/>
              </a:defRPr>
            </a:pPr>
            <a:r>
              <a:t>Кластерів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0" y="4389120"/>
            <a:ext cx="1371600" cy="548640"/>
          </a:xfrm>
          <a:prstGeom prst="roundRect">
            <a:avLst/>
          </a:prstGeom>
          <a:solidFill>
            <a:srgbClr val="10B981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defRPr sz="2400" b="1">
                <a:solidFill>
                  <a:srgbClr val="FFFFFF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0" y="502920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C8C8C8"/>
                </a:solidFill>
                <a:latin typeface="Arial"/>
              </a:defRPr>
            </a:pPr>
            <a:r>
              <a:t>Райони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0" y="4389120"/>
            <a:ext cx="1371600" cy="548640"/>
          </a:xfrm>
          <a:prstGeom prst="roundRect">
            <a:avLst/>
          </a:prstGeom>
          <a:solidFill>
            <a:srgbClr val="10B981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defRPr sz="2400" b="1">
                <a:solidFill>
                  <a:srgbClr val="FFFFFF"/>
                </a:solidFill>
                <a:latin typeface="Arial"/>
              </a:defRPr>
            </a:pPr>
            <a:r>
              <a:t>100%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502920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C8C8C8"/>
                </a:solidFill>
                <a:latin typeface="Arial"/>
              </a:defRPr>
            </a:pPr>
            <a:r>
              <a:t>Дизайн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63093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646464"/>
                </a:solidFill>
                <a:latin typeface="Arial"/>
              </a:defRPr>
            </a:pPr>
            <a:r>
              <a:t>8 /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74320"/>
            <a:ext cx="8229600" cy="548640"/>
          </a:xfrm>
          <a:prstGeom prst="roundRect">
            <a:avLst/>
          </a:prstGeom>
          <a:solidFill>
            <a:srgbClr val="10B981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defRPr sz="2600" b="1">
                <a:solidFill>
                  <a:srgbClr val="FFFFFF"/>
                </a:solidFill>
                <a:latin typeface="Arial"/>
              </a:defRPr>
            </a:pPr>
            <a:r>
              <a:t>ТЕСТУВАННЯ СИСТЕМИ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188720"/>
            <a:ext cx="457200" cy="457200"/>
          </a:xfrm>
          <a:prstGeom prst="roundRect">
            <a:avLst/>
          </a:prstGeom>
          <a:solidFill>
            <a:srgbClr val="10B981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188720"/>
            <a:ext cx="2103120" cy="457200"/>
          </a:xfrm>
          <a:prstGeom prst="roundRect">
            <a:avLst/>
          </a:prstGeom>
          <a:solidFill>
            <a:srgbClr val="10B981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ПРОДУКТИВНІСТЬ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66160" y="1188720"/>
            <a:ext cx="2011680" cy="457200"/>
          </a:xfrm>
          <a:prstGeom prst="roundRect">
            <a:avLst/>
          </a:prstGeom>
          <a:solidFill>
            <a:srgbClr val="3C3C3C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defRPr sz="1000">
                <a:solidFill>
                  <a:srgbClr val="C8C8C8"/>
                </a:solidFill>
                <a:latin typeface="Arial"/>
              </a:defRPr>
            </a:pPr>
            <a:r>
              <a:t>Frontend Testing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80160" y="1737360"/>
            <a:ext cx="7223760" cy="640080"/>
          </a:xfrm>
          <a:prstGeom prst="roundRect">
            <a:avLst/>
          </a:prstGeom>
          <a:solidFill>
            <a:srgbClr val="DCFCE7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defRPr sz="1000">
                <a:solidFill>
                  <a:srgbClr val="141414"/>
                </a:solidFill>
                <a:latin typeface="Arial"/>
              </a:defRPr>
            </a:pPr>
            <a:r>
              <a:t>100% - Усі тести пройдено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514600"/>
            <a:ext cx="457200" cy="457200"/>
          </a:xfrm>
          <a:prstGeom prst="roundRect">
            <a:avLst/>
          </a:prstGeom>
          <a:solidFill>
            <a:srgbClr val="10B981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280160" y="2514600"/>
            <a:ext cx="2103120" cy="457200"/>
          </a:xfrm>
          <a:prstGeom prst="roundRect">
            <a:avLst/>
          </a:prstGeom>
          <a:solidFill>
            <a:srgbClr val="10B981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КОРИСНІСТЬ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66160" y="2514600"/>
            <a:ext cx="2011680" cy="457200"/>
          </a:xfrm>
          <a:prstGeom prst="roundRect">
            <a:avLst/>
          </a:prstGeom>
          <a:solidFill>
            <a:srgbClr val="3C3C3C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defRPr sz="1000">
                <a:solidFill>
                  <a:srgbClr val="C8C8C8"/>
                </a:solidFill>
                <a:latin typeface="Arial"/>
              </a:defRPr>
            </a:pPr>
            <a:r>
              <a:t>Backend API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80160" y="3063240"/>
            <a:ext cx="7223760" cy="640080"/>
          </a:xfrm>
          <a:prstGeom prst="roundRect">
            <a:avLst/>
          </a:prstGeom>
          <a:solidFill>
            <a:srgbClr val="DCFCE7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defRPr sz="1000">
                <a:solidFill>
                  <a:srgbClr val="141414"/>
                </a:solidFill>
                <a:latin typeface="Arial"/>
              </a:defRPr>
            </a:pPr>
            <a:r>
              <a:t>90% - 9/10 тестів успішні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40480"/>
            <a:ext cx="457200" cy="457200"/>
          </a:xfrm>
          <a:prstGeom prst="roundRect">
            <a:avLst/>
          </a:prstGeom>
          <a:solidFill>
            <a:srgbClr val="10B981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80160" y="3840480"/>
            <a:ext cx="2103120" cy="457200"/>
          </a:xfrm>
          <a:prstGeom prst="roundRect">
            <a:avLst/>
          </a:prstGeom>
          <a:solidFill>
            <a:srgbClr val="10B981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БЕЗПЕКА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66160" y="3840480"/>
            <a:ext cx="2011680" cy="457200"/>
          </a:xfrm>
          <a:prstGeom prst="roundRect">
            <a:avLst/>
          </a:prstGeom>
          <a:solidFill>
            <a:srgbClr val="3C3C3C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defRPr sz="1000">
                <a:solidFill>
                  <a:srgbClr val="C8C8C8"/>
                </a:solidFill>
                <a:latin typeface="Arial"/>
              </a:defRPr>
            </a:pPr>
            <a:r>
              <a:t>Security Practices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280160" y="4389120"/>
            <a:ext cx="7223760" cy="640080"/>
          </a:xfrm>
          <a:prstGeom prst="roundRect">
            <a:avLst/>
          </a:prstGeom>
          <a:solidFill>
            <a:srgbClr val="DCFCE7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defRPr sz="1000">
                <a:solidFill>
                  <a:srgbClr val="141414"/>
                </a:solidFill>
                <a:latin typeface="Arial"/>
              </a:defRPr>
            </a:pPr>
            <a:r>
              <a:t>✓ Пройдено - Валідація даних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63093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646464"/>
                </a:solidFill>
                <a:latin typeface="Arial"/>
              </a:defRPr>
            </a:pPr>
            <a:r>
              <a:t>9 /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74320"/>
            <a:ext cx="8229600" cy="548640"/>
          </a:xfrm>
          <a:prstGeom prst="roundRect">
            <a:avLst/>
          </a:prstGeom>
          <a:solidFill>
            <a:srgbClr val="10B981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defRPr sz="2600" b="1">
                <a:solidFill>
                  <a:srgbClr val="FFFFFF"/>
                </a:solidFill>
                <a:latin typeface="Arial"/>
              </a:defRPr>
            </a:pPr>
            <a:r>
              <a:t>ВИСНОВКИ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188720"/>
            <a:ext cx="7863840" cy="3931920"/>
          </a:xfrm>
          <a:prstGeom prst="roundRect">
            <a:avLst/>
          </a:prstGeom>
          <a:solidFill>
            <a:srgbClr val="3C3C3C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defRPr sz="1000">
                <a:solidFill>
                  <a:srgbClr val="C8C8C8"/>
                </a:solidFill>
                <a:latin typeface="Arial"/>
              </a:defRPr>
            </a:pPr>
            <a:r>
              <a:t>Розроблена платформа повністю відповідає завданням:</a:t>
            </a:r>
            <a:br/>
            <a:br/>
            <a:r>
              <a:t>✓ Комплексний аналіз 1,864 туристичних об'єктів</a:t>
            </a:r>
            <a:br/>
            <a:br/>
            <a:r>
              <a:t>✓ K-means кластеризація з високими метриками:</a:t>
            </a:r>
            <a:br/>
            <a:r>
              <a:t>   • Silhouette: 0.693 (Висока якість)</a:t>
            </a:r>
            <a:br/>
            <a:r>
              <a:t>   • Davies-Bouldin: 0.620 (Добра сепарація)</a:t>
            </a:r>
            <a:br/>
            <a:r>
              <a:t>   • Calinski-Harabasz: 1247 (Висока щільність)</a:t>
            </a:r>
            <a:br/>
            <a:br/>
            <a:r>
              <a:t>✓ Професійна візуалізація (Elbow, Silhouette, PCA)</a:t>
            </a:r>
            <a:br/>
            <a:br/>
            <a:r>
              <a:t>✓ Інтерактивна карта з точними GeoJSON межами</a:t>
            </a:r>
            <a:br/>
            <a:br/>
            <a:r>
              <a:t>✓ AI-асистент для персоналізованих рекомендацій</a:t>
            </a:r>
            <a:br/>
            <a:br/>
            <a:r>
              <a:t>✓ Google Places API інтеграція</a:t>
            </a:r>
            <a:br/>
            <a:br/>
            <a:r>
              <a:t>✓ Детальна аналітика щільності та популярності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5212080"/>
            <a:ext cx="7863840" cy="640080"/>
          </a:xfrm>
          <a:prstGeom prst="roundRect">
            <a:avLst/>
          </a:prstGeom>
          <a:solidFill>
            <a:srgbClr val="10B981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Система забезпечує науково обґрунтоване планування розвитку туристичної інфраструктури Житомирської області.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63093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646464"/>
                </a:solidFill>
                <a:latin typeface="Arial"/>
              </a:defRPr>
            </a:pPr>
            <a:r>
              <a:t>10 /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0" y="2286000"/>
            <a:ext cx="5486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10B981"/>
                </a:solidFill>
                <a:latin typeface="Arial"/>
              </a:defRPr>
            </a:pPr>
            <a:r>
              <a:t>Дякую за увагу!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365760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C8C8C8"/>
                </a:solidFill>
                <a:latin typeface="Arial"/>
              </a:defRPr>
            </a:pPr>
            <a:r>
              <a:t>Готовий відповісти на запитання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0" y="4572000"/>
            <a:ext cx="4572000" cy="640080"/>
          </a:xfrm>
          <a:prstGeom prst="roundRect">
            <a:avLst/>
          </a:prstGeom>
          <a:solidFill>
            <a:srgbClr val="3C3C3C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defRPr sz="1100">
                <a:solidFill>
                  <a:srgbClr val="10B981"/>
                </a:solidFill>
                <a:latin typeface="Arial"/>
              </a:defRPr>
            </a:pPr>
            <a:r>
              <a:t>🔗 Посилання на проект:</a:t>
            </a:r>
            <a:br/>
            <a:r>
              <a:t>[Ваше посилання]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63093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646464"/>
                </a:solidFill>
                <a:latin typeface="Arial"/>
              </a:defRPr>
            </a:pPr>
            <a:r>
              <a:t>11 /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